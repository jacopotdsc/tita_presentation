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3244850" cx="5765800"/>
  <p:notesSz cx="5765800" cy="3244850"/>
  <p:embeddedFontLst>
    <p:embeddedFont>
      <p:font typeface="Tahoma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55" roundtripDataSignature="AMtx7mhnnX1GZObFzXDopDMESZDlZ3uB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Tahoma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Tahoma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5a96896eb346eb6b_0_174:notes"/>
          <p:cNvSpPr txBox="1"/>
          <p:nvPr>
            <p:ph idx="1" type="body"/>
          </p:nvPr>
        </p:nvSpPr>
        <p:spPr>
          <a:xfrm>
            <a:off x="768773" y="1541304"/>
            <a:ext cx="42282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25" lIns="62050" spcFirstLastPara="1" rIns="62050" wrap="square" tIns="31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47" name="Google Shape;247;h5a96896eb346eb6b_0_174:notes"/>
          <p:cNvSpPr/>
          <p:nvPr>
            <p:ph idx="2" type="sldImg"/>
          </p:nvPr>
        </p:nvSpPr>
        <p:spPr>
          <a:xfrm>
            <a:off x="321576" y="243364"/>
            <a:ext cx="51225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47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1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/48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2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" type="body"/>
          </p:nvPr>
        </p:nvSpPr>
        <p:spPr>
          <a:xfrm>
            <a:off x="386613" y="897296"/>
            <a:ext cx="2803525" cy="145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/48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3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/48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4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/48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5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5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/48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5a96896eb346eb6b_0_84"/>
          <p:cNvSpPr txBox="1"/>
          <p:nvPr>
            <p:ph type="ctrTitle"/>
          </p:nvPr>
        </p:nvSpPr>
        <p:spPr>
          <a:xfrm>
            <a:off x="1088618" y="531044"/>
            <a:ext cx="3588600" cy="12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425" lIns="52850" spcFirstLastPara="1" rIns="52850" wrap="square" tIns="26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" name="Google Shape;42;h5a96896eb346eb6b_0_84"/>
          <p:cNvSpPr txBox="1"/>
          <p:nvPr>
            <p:ph idx="1" type="subTitle"/>
          </p:nvPr>
        </p:nvSpPr>
        <p:spPr>
          <a:xfrm>
            <a:off x="1088618" y="1818644"/>
            <a:ext cx="35886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lvl="1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lvl="6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lvl="7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lvl="8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43" name="Google Shape;43;h5a96896eb346eb6b_0_84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4" name="Google Shape;44;h5a96896eb346eb6b_0_84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5" name="Google Shape;45;h5a96896eb346eb6b_0_84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22">
          <p15:clr>
            <a:srgbClr val="FBAE40"/>
          </p15:clr>
        </p15:guide>
        <p15:guide id="2" pos="242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5a96896eb346eb6b_0_189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4" name="Google Shape;54;h5a96896eb346eb6b_0_189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5" name="Google Shape;55;h5a96896eb346eb6b_0_189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a96896eb346eb6b_0_193"/>
          <p:cNvSpPr txBox="1"/>
          <p:nvPr>
            <p:ph type="ctrTitle"/>
          </p:nvPr>
        </p:nvSpPr>
        <p:spPr>
          <a:xfrm>
            <a:off x="1088618" y="531044"/>
            <a:ext cx="3588600" cy="12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425" lIns="52850" spcFirstLastPara="1" rIns="52850" wrap="square" tIns="26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8" name="Google Shape;58;h5a96896eb346eb6b_0_193"/>
          <p:cNvSpPr txBox="1"/>
          <p:nvPr>
            <p:ph idx="1" type="subTitle"/>
          </p:nvPr>
        </p:nvSpPr>
        <p:spPr>
          <a:xfrm>
            <a:off x="1088618" y="1818644"/>
            <a:ext cx="35886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lvl="1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lvl="6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lvl="7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lvl="8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9" name="Google Shape;59;h5a96896eb346eb6b_0_193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0" name="Google Shape;60;h5a96896eb346eb6b_0_193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1" name="Google Shape;61;h5a96896eb346eb6b_0_193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22">
          <p15:clr>
            <a:srgbClr val="FBAE40"/>
          </p15:clr>
        </p15:guide>
        <p15:guide id="2" pos="242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a96896eb346eb6b_0_199"/>
          <p:cNvSpPr txBox="1"/>
          <p:nvPr>
            <p:ph type="title"/>
          </p:nvPr>
        </p:nvSpPr>
        <p:spPr>
          <a:xfrm>
            <a:off x="289731" y="259588"/>
            <a:ext cx="5038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4" name="Google Shape;64;h5a96896eb346eb6b_0_199"/>
          <p:cNvSpPr txBox="1"/>
          <p:nvPr>
            <p:ph idx="1" type="body"/>
          </p:nvPr>
        </p:nvSpPr>
        <p:spPr>
          <a:xfrm>
            <a:off x="289731" y="811701"/>
            <a:ext cx="50382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921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65" name="Google Shape;65;h5a96896eb346eb6b_0_199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6" name="Google Shape;66;h5a96896eb346eb6b_0_199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7" name="Google Shape;67;h5a96896eb346eb6b_0_199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a96896eb346eb6b_0_205"/>
          <p:cNvSpPr txBox="1"/>
          <p:nvPr>
            <p:ph type="title"/>
          </p:nvPr>
        </p:nvSpPr>
        <p:spPr>
          <a:xfrm>
            <a:off x="285349" y="261943"/>
            <a:ext cx="3912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h5a96896eb346eb6b_0_205"/>
          <p:cNvSpPr txBox="1"/>
          <p:nvPr>
            <p:ph idx="1" type="body"/>
          </p:nvPr>
        </p:nvSpPr>
        <p:spPr>
          <a:xfrm>
            <a:off x="285348" y="2171496"/>
            <a:ext cx="39126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425" lIns="52850" spcFirstLastPara="1" rIns="52850" wrap="square" tIns="26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h5a96896eb346eb6b_0_205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2" name="Google Shape;72;h5a96896eb346eb6b_0_205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3" name="Google Shape;73;h5a96896eb346eb6b_0_205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5a96896eb346eb6b_0_211"/>
          <p:cNvSpPr txBox="1"/>
          <p:nvPr>
            <p:ph type="title"/>
          </p:nvPr>
        </p:nvSpPr>
        <p:spPr>
          <a:xfrm>
            <a:off x="289731" y="259588"/>
            <a:ext cx="50796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h5a96896eb346eb6b_0_211"/>
          <p:cNvSpPr txBox="1"/>
          <p:nvPr>
            <p:ph idx="1" type="body"/>
          </p:nvPr>
        </p:nvSpPr>
        <p:spPr>
          <a:xfrm>
            <a:off x="289731" y="863791"/>
            <a:ext cx="2450400" cy="2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921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7" name="Google Shape;77;h5a96896eb346eb6b_0_211"/>
          <p:cNvSpPr txBox="1"/>
          <p:nvPr>
            <p:ph idx="2" type="body"/>
          </p:nvPr>
        </p:nvSpPr>
        <p:spPr>
          <a:xfrm>
            <a:off x="2918936" y="863791"/>
            <a:ext cx="2450400" cy="2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921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8" name="Google Shape;78;h5a96896eb346eb6b_0_211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9" name="Google Shape;79;h5a96896eb346eb6b_0_211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0" name="Google Shape;80;h5a96896eb346eb6b_0_211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5a96896eb346eb6b_0_218"/>
          <p:cNvSpPr txBox="1"/>
          <p:nvPr>
            <p:ph type="title"/>
          </p:nvPr>
        </p:nvSpPr>
        <p:spPr>
          <a:xfrm>
            <a:off x="288290" y="258999"/>
            <a:ext cx="50817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3" name="Google Shape;83;h5a96896eb346eb6b_0_218"/>
          <p:cNvSpPr txBox="1"/>
          <p:nvPr>
            <p:ph idx="1" type="body"/>
          </p:nvPr>
        </p:nvSpPr>
        <p:spPr>
          <a:xfrm>
            <a:off x="288291" y="797602"/>
            <a:ext cx="2439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26425" lIns="52850" spcFirstLastPara="1" rIns="52850" wrap="square" tIns="264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 cap="none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4" name="Google Shape;84;h5a96896eb346eb6b_0_218"/>
          <p:cNvSpPr txBox="1"/>
          <p:nvPr>
            <p:ph idx="2" type="body"/>
          </p:nvPr>
        </p:nvSpPr>
        <p:spPr>
          <a:xfrm>
            <a:off x="288291" y="1129355"/>
            <a:ext cx="24390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921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85" name="Google Shape;85;h5a96896eb346eb6b_0_218"/>
          <p:cNvSpPr txBox="1"/>
          <p:nvPr>
            <p:ph idx="3" type="body"/>
          </p:nvPr>
        </p:nvSpPr>
        <p:spPr>
          <a:xfrm>
            <a:off x="2918936" y="797602"/>
            <a:ext cx="24513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26425" lIns="52850" spcFirstLastPara="1" rIns="52850" wrap="square" tIns="264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 cap="none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86" name="Google Shape;86;h5a96896eb346eb6b_0_218"/>
          <p:cNvSpPr txBox="1"/>
          <p:nvPr>
            <p:ph idx="4" type="body"/>
          </p:nvPr>
        </p:nvSpPr>
        <p:spPr>
          <a:xfrm>
            <a:off x="2918936" y="1129355"/>
            <a:ext cx="24513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921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87" name="Google Shape;87;h5a96896eb346eb6b_0_218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8" name="Google Shape;88;h5a96896eb346eb6b_0_218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9" name="Google Shape;89;h5a96896eb346eb6b_0_218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5a96896eb346eb6b_0_227"/>
          <p:cNvSpPr txBox="1"/>
          <p:nvPr>
            <p:ph type="title"/>
          </p:nvPr>
        </p:nvSpPr>
        <p:spPr>
          <a:xfrm>
            <a:off x="289731" y="259588"/>
            <a:ext cx="5038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2" name="Google Shape;92;h5a96896eb346eb6b_0_227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3" name="Google Shape;93;h5a96896eb346eb6b_0_227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4" name="Google Shape;94;h5a96896eb346eb6b_0_227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5a96896eb346eb6b_0_232"/>
          <p:cNvSpPr txBox="1"/>
          <p:nvPr>
            <p:ph type="title"/>
          </p:nvPr>
        </p:nvSpPr>
        <p:spPr>
          <a:xfrm>
            <a:off x="282407" y="261943"/>
            <a:ext cx="1700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h5a96896eb346eb6b_0_232"/>
          <p:cNvSpPr txBox="1"/>
          <p:nvPr>
            <p:ph idx="1" type="body"/>
          </p:nvPr>
        </p:nvSpPr>
        <p:spPr>
          <a:xfrm>
            <a:off x="2428289" y="261942"/>
            <a:ext cx="2969700" cy="25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indent="-28575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4pPr>
            <a:lvl5pPr indent="-2794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5pPr>
            <a:lvl6pPr indent="-2794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8" name="Google Shape;98;h5a96896eb346eb6b_0_232"/>
          <p:cNvSpPr txBox="1"/>
          <p:nvPr>
            <p:ph idx="2" type="body"/>
          </p:nvPr>
        </p:nvSpPr>
        <p:spPr>
          <a:xfrm>
            <a:off x="282407" y="1093503"/>
            <a:ext cx="17004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99" name="Google Shape;99;h5a96896eb346eb6b_0_232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0" name="Google Shape;100;h5a96896eb346eb6b_0_232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h5a96896eb346eb6b_0_232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5a96896eb346eb6b_0_239"/>
          <p:cNvSpPr txBox="1"/>
          <p:nvPr>
            <p:ph type="title"/>
          </p:nvPr>
        </p:nvSpPr>
        <p:spPr>
          <a:xfrm>
            <a:off x="281083" y="263915"/>
            <a:ext cx="170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4" name="Google Shape;104;h5a96896eb346eb6b_0_239"/>
          <p:cNvSpPr/>
          <p:nvPr>
            <p:ph idx="2" type="pic"/>
          </p:nvPr>
        </p:nvSpPr>
        <p:spPr>
          <a:xfrm>
            <a:off x="2394528" y="310907"/>
            <a:ext cx="3066300" cy="2628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h5a96896eb346eb6b_0_239"/>
          <p:cNvSpPr txBox="1"/>
          <p:nvPr>
            <p:ph idx="1" type="body"/>
          </p:nvPr>
        </p:nvSpPr>
        <p:spPr>
          <a:xfrm>
            <a:off x="288291" y="1337181"/>
            <a:ext cx="16956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26425" lIns="52850" spcFirstLastPara="1" rIns="52850" wrap="square" tIns="26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4pPr>
            <a:lvl5pPr indent="-2286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  <a:defRPr sz="400"/>
            </a:lvl9pPr>
          </a:lstStyle>
          <a:p/>
        </p:txBody>
      </p:sp>
      <p:sp>
        <p:nvSpPr>
          <p:cNvPr id="106" name="Google Shape;106;h5a96896eb346eb6b_0_239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7" name="Google Shape;107;h5a96896eb346eb6b_0_239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h5a96896eb346eb6b_0_239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a96896eb346eb6b_0_246"/>
          <p:cNvSpPr txBox="1"/>
          <p:nvPr>
            <p:ph type="title"/>
          </p:nvPr>
        </p:nvSpPr>
        <p:spPr>
          <a:xfrm>
            <a:off x="289731" y="259588"/>
            <a:ext cx="4973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1" name="Google Shape;111;h5a96896eb346eb6b_0_246"/>
          <p:cNvSpPr txBox="1"/>
          <p:nvPr>
            <p:ph idx="1" type="body"/>
          </p:nvPr>
        </p:nvSpPr>
        <p:spPr>
          <a:xfrm rot="5400000">
            <a:off x="1712534" y="-627586"/>
            <a:ext cx="2127300" cy="4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921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2" name="Google Shape;112;h5a96896eb346eb6b_0_246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3" name="Google Shape;113;h5a96896eb346eb6b_0_246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4" name="Google Shape;114;h5a96896eb346eb6b_0_246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5a96896eb346eb6b_0_252"/>
          <p:cNvSpPr txBox="1"/>
          <p:nvPr>
            <p:ph type="title"/>
          </p:nvPr>
        </p:nvSpPr>
        <p:spPr>
          <a:xfrm rot="5400000">
            <a:off x="3716027" y="1114165"/>
            <a:ext cx="26490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7" name="Google Shape;117;h5a96896eb346eb6b_0_252"/>
          <p:cNvSpPr txBox="1"/>
          <p:nvPr>
            <p:ph idx="1" type="body"/>
          </p:nvPr>
        </p:nvSpPr>
        <p:spPr>
          <a:xfrm rot="5400000">
            <a:off x="1151949" y="-481835"/>
            <a:ext cx="2649000" cy="4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92100" lvl="0" marL="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2pPr>
            <a:lvl3pPr indent="-292100" lvl="2" marL="1371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4pPr>
            <a:lvl5pPr indent="-292100" lvl="4" marL="22860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5pPr>
            <a:lvl6pPr indent="-2921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118" name="Google Shape;118;h5a96896eb346eb6b_0_252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9" name="Google Shape;119;h5a96896eb346eb6b_0_252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0" name="Google Shape;120;h5a96896eb346eb6b_0_252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5579" y="3"/>
            <a:ext cx="518378" cy="6170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0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0"/>
          <p:cNvSpPr txBox="1"/>
          <p:nvPr>
            <p:ph idx="1" type="body"/>
          </p:nvPr>
        </p:nvSpPr>
        <p:spPr>
          <a:xfrm>
            <a:off x="386613" y="897296"/>
            <a:ext cx="2803525" cy="145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5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0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/48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h5a96896eb346eb6b_0_183"/>
          <p:cNvSpPr txBox="1"/>
          <p:nvPr>
            <p:ph type="title"/>
          </p:nvPr>
        </p:nvSpPr>
        <p:spPr>
          <a:xfrm>
            <a:off x="289731" y="259588"/>
            <a:ext cx="5038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h5a96896eb346eb6b_0_183"/>
          <p:cNvSpPr txBox="1"/>
          <p:nvPr>
            <p:ph idx="1" type="body"/>
          </p:nvPr>
        </p:nvSpPr>
        <p:spPr>
          <a:xfrm>
            <a:off x="289731" y="811701"/>
            <a:ext cx="50382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rmAutofit/>
          </a:bodyPr>
          <a:lstStyle>
            <a:lvl1pPr indent="-285750" lvl="0" marL="457200" marR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305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6035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h5a96896eb346eb6b_0_183"/>
          <p:cNvSpPr txBox="1"/>
          <p:nvPr>
            <p:ph idx="10" type="dt"/>
          </p:nvPr>
        </p:nvSpPr>
        <p:spPr>
          <a:xfrm>
            <a:off x="64865" y="3053226"/>
            <a:ext cx="1652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h5a96896eb346eb6b_0_183"/>
          <p:cNvSpPr txBox="1"/>
          <p:nvPr>
            <p:ph idx="11" type="ftr"/>
          </p:nvPr>
        </p:nvSpPr>
        <p:spPr>
          <a:xfrm>
            <a:off x="4197855" y="3053226"/>
            <a:ext cx="13269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h5a96896eb346eb6b_0_183"/>
          <p:cNvSpPr txBox="1"/>
          <p:nvPr>
            <p:ph idx="12" type="sldNum"/>
          </p:nvPr>
        </p:nvSpPr>
        <p:spPr>
          <a:xfrm>
            <a:off x="5501044" y="3053226"/>
            <a:ext cx="203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  <a:defRPr b="0" i="0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022">
          <p15:clr>
            <a:srgbClr val="F26B43"/>
          </p15:clr>
        </p15:guide>
        <p15:guide id="2" pos="24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slide" Target="/ppt/slides/slide2.xml"/><Relationship Id="rId9" Type="http://schemas.openxmlformats.org/officeDocument/2006/relationships/slide" Target="/ppt/slides/slide45.xml"/><Relationship Id="rId5" Type="http://schemas.openxmlformats.org/officeDocument/2006/relationships/slide" Target="/ppt/slides/slide6.xml"/><Relationship Id="rId6" Type="http://schemas.openxmlformats.org/officeDocument/2006/relationships/slide" Target="/ppt/slides/slide14.xml"/><Relationship Id="rId7" Type="http://schemas.openxmlformats.org/officeDocument/2006/relationships/slide" Target="/ppt/slides/slide19.xml"/><Relationship Id="rId8" Type="http://schemas.openxmlformats.org/officeDocument/2006/relationships/slide" Target="/ppt/slides/slide36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slide" Target="/ppt/slides/slide2.xml"/><Relationship Id="rId9" Type="http://schemas.openxmlformats.org/officeDocument/2006/relationships/slide" Target="/ppt/slides/slide45.xml"/><Relationship Id="rId5" Type="http://schemas.openxmlformats.org/officeDocument/2006/relationships/slide" Target="/ppt/slides/slide6.xml"/><Relationship Id="rId6" Type="http://schemas.openxmlformats.org/officeDocument/2006/relationships/slide" Target="/ppt/slides/slide14.xml"/><Relationship Id="rId7" Type="http://schemas.openxmlformats.org/officeDocument/2006/relationships/slide" Target="/ppt/slides/slide19.xml"/><Relationship Id="rId8" Type="http://schemas.openxmlformats.org/officeDocument/2006/relationships/slide" Target="/ppt/slides/slide3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.jpg"/><Relationship Id="rId5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Relationship Id="rId4" Type="http://schemas.openxmlformats.org/officeDocument/2006/relationships/slide" Target="/ppt/slides/slide2.xml"/><Relationship Id="rId9" Type="http://schemas.openxmlformats.org/officeDocument/2006/relationships/slide" Target="/ppt/slides/slide45.xml"/><Relationship Id="rId5" Type="http://schemas.openxmlformats.org/officeDocument/2006/relationships/slide" Target="/ppt/slides/slide6.xml"/><Relationship Id="rId6" Type="http://schemas.openxmlformats.org/officeDocument/2006/relationships/slide" Target="/ppt/slides/slide14.xml"/><Relationship Id="rId7" Type="http://schemas.openxmlformats.org/officeDocument/2006/relationships/slide" Target="/ppt/slides/slide19.xml"/><Relationship Id="rId8" Type="http://schemas.openxmlformats.org/officeDocument/2006/relationships/slide" Target="/ppt/slides/slide36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gif"/><Relationship Id="rId4" Type="http://schemas.openxmlformats.org/officeDocument/2006/relationships/image" Target="../media/image12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slide" Target="/ppt/slides/slide2.xml"/><Relationship Id="rId9" Type="http://schemas.openxmlformats.org/officeDocument/2006/relationships/slide" Target="/ppt/slides/slide45.xml"/><Relationship Id="rId5" Type="http://schemas.openxmlformats.org/officeDocument/2006/relationships/slide" Target="/ppt/slides/slide6.xml"/><Relationship Id="rId6" Type="http://schemas.openxmlformats.org/officeDocument/2006/relationships/slide" Target="/ppt/slides/slide14.xml"/><Relationship Id="rId7" Type="http://schemas.openxmlformats.org/officeDocument/2006/relationships/slide" Target="/ppt/slides/slide19.xml"/><Relationship Id="rId8" Type="http://schemas.openxmlformats.org/officeDocument/2006/relationships/slide" Target="/ppt/slides/slide36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29.png"/><Relationship Id="rId8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jpg"/><Relationship Id="rId4" Type="http://schemas.openxmlformats.org/officeDocument/2006/relationships/slide" Target="/ppt/slides/slide2.xml"/><Relationship Id="rId9" Type="http://schemas.openxmlformats.org/officeDocument/2006/relationships/slide" Target="/ppt/slides/slide45.xml"/><Relationship Id="rId5" Type="http://schemas.openxmlformats.org/officeDocument/2006/relationships/slide" Target="/ppt/slides/slide6.xml"/><Relationship Id="rId6" Type="http://schemas.openxmlformats.org/officeDocument/2006/relationships/slide" Target="/ppt/slides/slide14.xml"/><Relationship Id="rId7" Type="http://schemas.openxmlformats.org/officeDocument/2006/relationships/slide" Target="/ppt/slides/slide19.xml"/><Relationship Id="rId8" Type="http://schemas.openxmlformats.org/officeDocument/2006/relationships/slide" Target="/ppt/slides/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jpg"/><Relationship Id="rId4" Type="http://schemas.openxmlformats.org/officeDocument/2006/relationships/slide" Target="/ppt/slides/slide2.xml"/><Relationship Id="rId9" Type="http://schemas.openxmlformats.org/officeDocument/2006/relationships/slide" Target="/ppt/slides/slide45.xml"/><Relationship Id="rId5" Type="http://schemas.openxmlformats.org/officeDocument/2006/relationships/slide" Target="/ppt/slides/slide6.xml"/><Relationship Id="rId6" Type="http://schemas.openxmlformats.org/officeDocument/2006/relationships/slide" Target="/ppt/slides/slide14.xml"/><Relationship Id="rId7" Type="http://schemas.openxmlformats.org/officeDocument/2006/relationships/slide" Target="/ppt/slides/slide19.xml"/><Relationship Id="rId8" Type="http://schemas.openxmlformats.org/officeDocument/2006/relationships/slide" Target="/ppt/slides/slide36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"/>
          <p:cNvGrpSpPr/>
          <p:nvPr/>
        </p:nvGrpSpPr>
        <p:grpSpPr>
          <a:xfrm>
            <a:off x="0" y="-21"/>
            <a:ext cx="5759995" cy="3240019"/>
            <a:chOff x="0" y="-21"/>
            <a:chExt cx="5759995" cy="3240019"/>
          </a:xfrm>
        </p:grpSpPr>
        <p:pic>
          <p:nvPicPr>
            <p:cNvPr id="126" name="Google Shape;12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25575" y="-21"/>
              <a:ext cx="2534420" cy="3240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"/>
            <p:cNvSpPr/>
            <p:nvPr/>
          </p:nvSpPr>
          <p:spPr>
            <a:xfrm>
              <a:off x="0" y="1081354"/>
              <a:ext cx="3588385" cy="896619"/>
            </a:xfrm>
            <a:custGeom>
              <a:rect b="b" l="l" r="r" t="t"/>
              <a:pathLst>
                <a:path extrusionOk="0" h="896619" w="3588385">
                  <a:moveTo>
                    <a:pt x="3588130" y="0"/>
                  </a:moveTo>
                  <a:lnTo>
                    <a:pt x="0" y="0"/>
                  </a:lnTo>
                  <a:lnTo>
                    <a:pt x="0" y="896619"/>
                  </a:lnTo>
                  <a:lnTo>
                    <a:pt x="3588130" y="896619"/>
                  </a:lnTo>
                  <a:lnTo>
                    <a:pt x="3588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1"/>
          <p:cNvSpPr txBox="1"/>
          <p:nvPr/>
        </p:nvSpPr>
        <p:spPr>
          <a:xfrm>
            <a:off x="361149" y="1140330"/>
            <a:ext cx="3020060" cy="58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12700" marR="508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Residual Learning for Agile Locomotion: Application to a Two-Wheeled Legged Robot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/>
          <p:nvPr/>
        </p:nvSpPr>
        <p:spPr>
          <a:xfrm>
            <a:off x="0" y="0"/>
            <a:ext cx="5760085" cy="3240405"/>
          </a:xfrm>
          <a:custGeom>
            <a:rect b="b" l="l" r="r" t="t"/>
            <a:pathLst>
              <a:path extrusionOk="0" h="3240405" w="576008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8124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579" y="3"/>
            <a:ext cx="518378" cy="6170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135" name="Google Shape;135;p2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Table of Contents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 What is Residual Learning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347294" y="864779"/>
            <a:ext cx="1859914" cy="173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3843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Residual Learning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Recap on papers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MPC formulations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Tita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Lite3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Conclusions and contributions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2" name="Google Shape;142;p3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Thesis recap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1 What is Residual Learning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347294" y="775390"/>
            <a:ext cx="5022850" cy="1885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MPC provides an interpretable, physically grounded baseline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but model mismatch, contact uncertainty and real-time computation can limit performance.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RL learns adaptable behavior through experience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including interactions that are difficult to model. End-to-end policies require careful reward design and substantial training, and offer less interpretability. This thesis combines MPC with a neural network that learns residual corrections for improved locomotion.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Residual Learning Idea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31445" lvl="0" marL="288925" rtl="0"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MPC provides a structured, interpretable, constraint-aware baseline.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RL adapts to model errors, contacts and terrain variations.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The policy does not learn locomotion from scratch.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It learns a correction to the MPC action.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This combines model-based reliability with learned robustness.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2/48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9" name="Google Shape;149;p4"/>
          <p:cNvSpPr txBox="1"/>
          <p:nvPr>
            <p:ph type="title"/>
          </p:nvPr>
        </p:nvSpPr>
        <p:spPr>
          <a:xfrm>
            <a:off x="1067295" y="252930"/>
            <a:ext cx="95376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Thesis recap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347294" y="409385"/>
            <a:ext cx="4963160" cy="251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732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1 What is Residual Learning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Residual Learning has been widely used to augment model-based locomotion controllers.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previous works, residual policies are used to: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31445" lvl="0" marL="288925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compensate for model mismatch.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handle effects not explicitly modeled in MPC.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enhance specific modules of the control pipeline.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improve robustness on complex terrains.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28892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 . 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86995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Most applications focus on humanoids and quadruped robots. In contrast, residual learning for bipedal wheeled-legged robots remains less explored.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 applies residual learning to a bipedal wheeled-legged robot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aiming to combine MPC structure with RL adaptability.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3/48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6" name="Google Shape;156;p5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Definitions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1 What is Residual Learning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386625" y="897301"/>
            <a:ext cx="28035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12700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Agent</a:t>
            </a:r>
            <a:r>
              <a:rPr lang="en-US"/>
              <a:t>: </a:t>
            </a:r>
            <a:r>
              <a:rPr lang="en-US" sz="700"/>
              <a:t>policy </a:t>
            </a:r>
            <a:r>
              <a:rPr i="1" lang="en-US" sz="700">
                <a:latin typeface="Arial"/>
                <a:ea typeface="Arial"/>
                <a:cs typeface="Arial"/>
                <a:sym typeface="Arial"/>
              </a:rPr>
              <a:t>π</a:t>
            </a:r>
            <a:r>
              <a:rPr baseline="-25000" i="1" lang="en-US" sz="700">
                <a:latin typeface="Arial"/>
                <a:ea typeface="Arial"/>
                <a:cs typeface="Arial"/>
                <a:sym typeface="Arial"/>
              </a:rPr>
              <a:t>ϕ</a:t>
            </a:r>
            <a:r>
              <a:rPr lang="en-US" sz="700"/>
              <a:t>, implemented by a neural network.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812433"/>
              </a:buClr>
              <a:buSzPts val="1350"/>
              <a:buFont typeface="Tahoma"/>
              <a:buChar char="•"/>
            </a:pPr>
            <a:r>
              <a:rPr b="1" baseline="30000" lang="en-US" sz="1350">
                <a:latin typeface="Calibri"/>
                <a:ea typeface="Calibri"/>
                <a:cs typeface="Calibri"/>
                <a:sym typeface="Calibri"/>
              </a:rPr>
              <a:t>Observation space</a:t>
            </a:r>
            <a:r>
              <a:rPr baseline="30000" lang="en-US" sz="1350"/>
              <a:t>: possible policy inputs,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o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 </a:t>
            </a:r>
            <a:r>
              <a:rPr baseline="30000" lang="en-US" sz="1350">
                <a:latin typeface="Lucida Sans"/>
                <a:ea typeface="Lucida Sans"/>
                <a:cs typeface="Lucida Sans"/>
                <a:sym typeface="Lucida Sans"/>
              </a:rPr>
              <a:t>∈ O</a:t>
            </a:r>
            <a:r>
              <a:rPr baseline="30000" lang="en-US" sz="1350"/>
              <a:t>.</a:t>
            </a:r>
            <a:endParaRPr baseline="30000" sz="1350">
              <a:latin typeface="Lucida Sans"/>
              <a:ea typeface="Lucida Sans"/>
              <a:cs typeface="Lucida Sans"/>
              <a:sym typeface="Lucida Sans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812433"/>
              </a:buClr>
              <a:buSzPts val="1350"/>
              <a:buFont typeface="Tahoma"/>
              <a:buChar char="•"/>
            </a:pPr>
            <a:r>
              <a:rPr b="1" baseline="30000" lang="en-US" sz="1350">
                <a:latin typeface="Calibri"/>
                <a:ea typeface="Calibri"/>
                <a:cs typeface="Calibri"/>
                <a:sym typeface="Calibri"/>
              </a:rPr>
              <a:t>Action space</a:t>
            </a:r>
            <a:r>
              <a:rPr baseline="30000" lang="en-US" sz="1350"/>
              <a:t>: possible outputs,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 </a:t>
            </a:r>
            <a:r>
              <a:rPr baseline="30000" lang="en-US" sz="1350">
                <a:latin typeface="Lucida Sans"/>
                <a:ea typeface="Lucida Sans"/>
                <a:cs typeface="Lucida Sans"/>
                <a:sym typeface="Lucida Sans"/>
              </a:rPr>
              <a:t>∈ A</a:t>
            </a:r>
            <a:r>
              <a:rPr baseline="30000" lang="en-US" sz="1350"/>
              <a:t>.</a:t>
            </a:r>
            <a:endParaRPr baseline="30000" sz="1350">
              <a:latin typeface="Lucida Sans"/>
              <a:ea typeface="Lucida Sans"/>
              <a:cs typeface="Lucida Sans"/>
              <a:sym typeface="Lucida Sans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812433"/>
              </a:buClr>
              <a:buSzPts val="1350"/>
              <a:buFont typeface="Tahoma"/>
              <a:buChar char="•"/>
            </a:pPr>
            <a:r>
              <a:rPr b="1" baseline="30000" lang="en-US" sz="1350">
                <a:latin typeface="Calibri"/>
                <a:ea typeface="Calibri"/>
                <a:cs typeface="Calibri"/>
                <a:sym typeface="Calibri"/>
              </a:rPr>
              <a:t>Reward</a:t>
            </a:r>
            <a:r>
              <a:rPr baseline="30000" lang="en-US" sz="1350"/>
              <a:t>: scalar signal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 </a:t>
            </a:r>
            <a:r>
              <a:rPr baseline="30000" lang="en-US" sz="1350"/>
              <a:t>evaluating behavior.</a:t>
            </a:r>
            <a:endParaRPr baseline="30000" sz="1350">
              <a:latin typeface="Cambria"/>
              <a:ea typeface="Cambria"/>
              <a:cs typeface="Cambria"/>
              <a:sym typeface="Cambria"/>
            </a:endParaRPr>
          </a:p>
          <a:p>
            <a:pPr indent="-126364" lvl="0" marL="163830" marR="330200" rtl="0" algn="l">
              <a:lnSpc>
                <a:spcPct val="101499"/>
              </a:lnSpc>
              <a:spcBef>
                <a:spcPts val="400"/>
              </a:spcBef>
              <a:spcAft>
                <a:spcPts val="0"/>
              </a:spcAft>
              <a:buClr>
                <a:srgbClr val="812433"/>
              </a:buClr>
              <a:buSzPts val="1350"/>
              <a:buFont typeface="Tahoma"/>
              <a:buChar char="•"/>
            </a:pPr>
            <a:r>
              <a:rPr b="1" baseline="30000" lang="en-US" sz="1350">
                <a:latin typeface="Calibri"/>
                <a:ea typeface="Calibri"/>
                <a:cs typeface="Calibri"/>
                <a:sym typeface="Calibri"/>
              </a:rPr>
              <a:t>Transition</a:t>
            </a:r>
            <a:r>
              <a:rPr baseline="30000" lang="en-US" sz="1350"/>
              <a:t>: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600">
                <a:latin typeface="Cambria"/>
                <a:ea typeface="Cambria"/>
                <a:cs typeface="Cambria"/>
                <a:sym typeface="Cambria"/>
              </a:rPr>
              <a:t>1 </a:t>
            </a:r>
            <a:r>
              <a:rPr baseline="30000" lang="en-US" sz="1350">
                <a:latin typeface="Lucida Sans"/>
                <a:ea typeface="Lucida Sans"/>
                <a:cs typeface="Lucida Sans"/>
                <a:sym typeface="Lucida Sans"/>
              </a:rPr>
              <a:t>∼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30000" lang="en-US" sz="1350"/>
              <a:t>(</a:t>
            </a:r>
            <a:r>
              <a:rPr baseline="30000" lang="en-US" sz="1350">
                <a:latin typeface="Lucida Sans"/>
                <a:ea typeface="Lucida Sans"/>
                <a:cs typeface="Lucida Sans"/>
                <a:sym typeface="Lucida Sans"/>
              </a:rPr>
              <a:t>· |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aseline="30000" i="1" lang="en-US" sz="135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 </a:t>
            </a:r>
            <a:r>
              <a:rPr baseline="30000" lang="en-US" sz="1350"/>
              <a:t>), with reward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 </a:t>
            </a:r>
            <a:r>
              <a:rPr baseline="30000" lang="en-US" sz="1350"/>
              <a:t>and observation </a:t>
            </a:r>
            <a:r>
              <a:rPr baseline="30000" i="1" lang="en-US" sz="1350">
                <a:latin typeface="Cambria"/>
                <a:ea typeface="Cambria"/>
                <a:cs typeface="Cambria"/>
                <a:sym typeface="Cambria"/>
              </a:rPr>
              <a:t>o</a:t>
            </a:r>
            <a:r>
              <a:rPr i="1" lang="en-US" sz="600"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60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aseline="30000" lang="en-US" sz="1350"/>
              <a:t>.</a:t>
            </a:r>
            <a:endParaRPr baseline="30000" sz="1350">
              <a:latin typeface="Cambria"/>
              <a:ea typeface="Cambria"/>
              <a:cs typeface="Cambria"/>
              <a:sym typeface="Cambria"/>
            </a:endParaRPr>
          </a:p>
          <a:p>
            <a:pPr indent="-126364" lvl="0" marL="163830" marR="30480" rtl="0" algn="l">
              <a:lnSpc>
                <a:spcPct val="101499"/>
              </a:lnSpc>
              <a:spcBef>
                <a:spcPts val="30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Replay buffer</a:t>
            </a:r>
            <a:r>
              <a:rPr lang="en-US"/>
              <a:t>: </a:t>
            </a:r>
            <a:r>
              <a:rPr lang="en-US" sz="700"/>
              <a:t>stored transitions. PPO always empty this buffer and the end of the episode.</a:t>
            </a:r>
            <a:endParaRPr sz="700"/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5955" y="982344"/>
            <a:ext cx="1889644" cy="69504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3633800" y="1932600"/>
            <a:ext cx="2025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-126364" lvl="0" marL="163830" marR="48895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Simulation frame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one simulation step.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Actor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policy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baseline="-25000"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ϕ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Critic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estimates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θ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 or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θ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4/48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5760085" cy="3240405"/>
          </a:xfrm>
          <a:custGeom>
            <a:rect b="b" l="l" r="r" t="t"/>
            <a:pathLst>
              <a:path extrusionOk="0" h="3240405" w="576008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8124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579" y="3"/>
            <a:ext cx="518378" cy="6170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167" name="Google Shape;167;p6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Table of Contents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347294" y="863827"/>
            <a:ext cx="1859914" cy="1732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3843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Residual Learning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Recap on papers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MPC formulations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Tita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Lite3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Conclusions and contributions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5/48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4" name="Google Shape;174;p8"/>
          <p:cNvSpPr txBox="1"/>
          <p:nvPr>
            <p:ph type="title"/>
          </p:nvPr>
        </p:nvSpPr>
        <p:spPr>
          <a:xfrm>
            <a:off x="1067295" y="252930"/>
            <a:ext cx="410273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Residual MPC: Blending RL with GPU-Parallelized MPC</a:t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210075" y="460424"/>
            <a:ext cx="26283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8693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63500" rtl="0" algn="l">
              <a:lnSpc>
                <a:spcPct val="119375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MLP: three hidden layers, 256 ELU units each; Gaussian policy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8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N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µ, σ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62865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Scaling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λ 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limits deviations from the nominal controller.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296545" rtl="0" algn="l">
              <a:lnSpc>
                <a:spcPct val="56666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o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[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θ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ω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ϕ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 </a:t>
            </a:r>
            <a:r>
              <a:rPr lang="en-US" sz="8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54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8435" rtl="0" algn="ctr">
              <a:lnSpc>
                <a:spcPct val="7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j	j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5788" y="797274"/>
            <a:ext cx="2170681" cy="122983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/>
          <p:nvPr/>
        </p:nvSpPr>
        <p:spPr>
          <a:xfrm>
            <a:off x="263975" y="1461400"/>
            <a:ext cx="26283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63500" rtl="0" algn="l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Joint action – joint blending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19405" rtl="0" algn="l"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 sz="8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+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8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+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Joint action – torque blending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95655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λτ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res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66294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res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ˆ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 sz="8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8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6294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Torque action – torque blending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662940" rtl="0" algn="ctr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3151479" y="2097035"/>
            <a:ext cx="235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7465" marR="30480" rtl="0" algn="ctr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base position;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orientation;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joint positions;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ω,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angular/linear velocities;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ϕ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contact phase;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MPC value estimate.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13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Author suggestion: 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Joint–torque blending achieves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102870" marR="95250" rtl="0" algn="ctr">
              <a:lnSpc>
                <a:spcPct val="105555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similar performance to joint–joint blending while avoiding corrections relative to potentially infeasible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setpoints when MPC diverges.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7/48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84" name="Google Shape;184;p9"/>
          <p:cNvSpPr txBox="1"/>
          <p:nvPr>
            <p:ph type="title"/>
          </p:nvPr>
        </p:nvSpPr>
        <p:spPr>
          <a:xfrm>
            <a:off x="1067295" y="252930"/>
            <a:ext cx="385191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Residual MPC: training and self-collision avoidance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212947" y="619975"/>
            <a:ext cx="2255100" cy="1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818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44780" rtl="0" algn="l">
              <a:lnSpc>
                <a:spcPct val="101499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Reward obtained during training with the 3 control techniques: MPC-only, Residual Learning, E2E approach</a:t>
            </a:r>
            <a:endParaRPr sz="900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144780" rtl="0" algn="l">
              <a:lnSpc>
                <a:spcPct val="101499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97790" rtl="0" algn="l">
              <a:lnSpc>
                <a:spcPct val="101499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Given and angular command to the humanoid robot, with MPC approach, there is a knee-collision which is solved with Residual Learning approach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1881" y="866562"/>
            <a:ext cx="2050888" cy="96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58" y="2143774"/>
            <a:ext cx="1352559" cy="850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0518" y="1928580"/>
            <a:ext cx="2285196" cy="1128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8/48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/>
        </p:nvSpPr>
        <p:spPr>
          <a:xfrm>
            <a:off x="1067295" y="252930"/>
            <a:ext cx="252920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Residual MPC: terrain adaptation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5" name="Google Shape;1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771" y="802863"/>
            <a:ext cx="4577579" cy="189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 txBox="1"/>
          <p:nvPr/>
        </p:nvSpPr>
        <p:spPr>
          <a:xfrm>
            <a:off x="296494" y="3016594"/>
            <a:ext cx="26479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9/48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01" name="Google Shape;201;p11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Residual MPC: robustness and achievable velocities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4176" y="622502"/>
            <a:ext cx="1632210" cy="805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503" y="1723617"/>
            <a:ext cx="4076864" cy="134371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1"/>
          <p:cNvSpPr txBox="1"/>
          <p:nvPr/>
        </p:nvSpPr>
        <p:spPr>
          <a:xfrm>
            <a:off x="347294" y="3016594"/>
            <a:ext cx="257810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10/48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1678177" y="3067325"/>
            <a:ext cx="2784900" cy="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Achievable linear velocity: tracking error below 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 m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-1" y="745900"/>
            <a:ext cx="38427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Tahoma"/>
              <a:buChar char="●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 residual policy avoids unmodeled self-collisions.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43815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Tahoma"/>
              <a:buChar char="●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It handles unseen uneven, rough and sloped terrain without fine-tuning or domain randomization.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</a:pPr>
            <a:r>
              <a:rPr baseline="30000" lang="en-US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Achievable velocities improve by </a:t>
            </a:r>
            <a:r>
              <a:rPr baseline="30000" lang="en-US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78</a:t>
            </a:r>
            <a:r>
              <a:rPr baseline="30000" lang="en-US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% in </a:t>
            </a:r>
            <a:r>
              <a:rPr baseline="30000" i="1" lang="en-US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vx</a:t>
            </a:r>
            <a:r>
              <a:rPr baseline="30000" lang="en-US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aseline="30000" lang="en-US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r>
              <a:rPr baseline="30000" lang="en-US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% in </a:t>
            </a:r>
            <a:r>
              <a:rPr baseline="30000" i="1" lang="en-US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vy</a:t>
            </a:r>
            <a:r>
              <a:rPr baseline="30000" lang="en-US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aseline="30000" lang="en-US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r>
              <a:rPr baseline="30000" lang="en-US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%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 in 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aseline="30000" sz="13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11" name="Google Shape;211;p12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RL-augmented Adaptive MPC for Bipedal Locomotion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2" name="Google Shape;2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6" y="903173"/>
            <a:ext cx="3442069" cy="96181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 txBox="1"/>
          <p:nvPr/>
        </p:nvSpPr>
        <p:spPr>
          <a:xfrm>
            <a:off x="3768293" y="785315"/>
            <a:ext cx="1826260" cy="62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marR="30480" rtl="0" algn="l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projected gravity;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ω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base velocities;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cmd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velocity command;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joint state;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−1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previous action; 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ϕ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swing phase;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fh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planned foothold;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f 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foot position;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aseline="-25000"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ref 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reference foot position.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498411" y="1887147"/>
            <a:ext cx="2759710" cy="40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-12700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MLP: (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512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256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128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 hidden units with ELU activations.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39700" rtl="0" algn="l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Observation: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373644" y="2300891"/>
            <a:ext cx="90741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o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g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ω 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679371" y="2358877"/>
            <a:ext cx="223647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	b	b	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cmd  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j	j	t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−1	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fh	f	f </a:t>
            </a:r>
            <a:r>
              <a:rPr i="1" lang="en-US" sz="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ref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1679371" y="2284150"/>
            <a:ext cx="2668270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⊤  ⊤	⊤  ⊤	⊤  ⊤  ⊤	⊤  ⊤  ⊤  ⊤  ⊤	59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2400465" y="2300891"/>
            <a:ext cx="198628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˙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	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ϕ 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	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]  </a:t>
            </a:r>
            <a:r>
              <a:rPr lang="en-US" sz="9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329244" y="2641104"/>
            <a:ext cx="5107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7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Outputs: residual dynamics </a:t>
            </a:r>
            <a:r>
              <a:rPr baseline="30000" i="1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f </a:t>
            </a:r>
            <a:r>
              <a:rPr baseline="30000" lang="en-US" sz="13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baseline="30000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; swing-foot height ∆</a:t>
            </a:r>
            <a:r>
              <a:rPr baseline="30000" i="1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; swing-shape correction ∆</a:t>
            </a:r>
            <a:r>
              <a:rPr baseline="30000" i="1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; sampling coefficient</a:t>
            </a:r>
            <a:endParaRPr baseline="30000" sz="1350">
              <a:latin typeface="Tahoma"/>
              <a:ea typeface="Tahoma"/>
              <a:cs typeface="Tahoma"/>
              <a:sym typeface="Tahoma"/>
            </a:endParaRPr>
          </a:p>
          <a:p>
            <a:pPr indent="0" lvl="0" marL="381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controlling gait duration.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296494" y="3016594"/>
            <a:ext cx="30035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2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11/48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25" name="Google Shape;225;p13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Adaptive MPC: success rate and tracking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6" name="Google Shape;2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274" y="710833"/>
            <a:ext cx="4900464" cy="171108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/>
          <p:cNvSpPr txBox="1"/>
          <p:nvPr/>
        </p:nvSpPr>
        <p:spPr>
          <a:xfrm>
            <a:off x="927760" y="2744614"/>
            <a:ext cx="390461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Success rate (SR) measures the fraction of successful, non-terminated trials.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296494" y="3016594"/>
            <a:ext cx="30035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2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12/48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/>
        </p:nvSpPr>
        <p:spPr>
          <a:xfrm>
            <a:off x="1067295" y="252930"/>
            <a:ext cx="259905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Adaptive MPC: challenging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2 Recap on papers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421" y="743596"/>
            <a:ext cx="4660630" cy="19507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 txBox="1"/>
          <p:nvPr/>
        </p:nvSpPr>
        <p:spPr>
          <a:xfrm>
            <a:off x="296494" y="3016594"/>
            <a:ext cx="30035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2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13/48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/>
          <p:nvPr/>
        </p:nvSpPr>
        <p:spPr>
          <a:xfrm>
            <a:off x="0" y="0"/>
            <a:ext cx="5760085" cy="3240405"/>
          </a:xfrm>
          <a:custGeom>
            <a:rect b="b" l="l" r="r" t="t"/>
            <a:pathLst>
              <a:path extrusionOk="0" h="3240405" w="576008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8124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579" y="3"/>
            <a:ext cx="518378" cy="6170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242" name="Google Shape;242;p15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Table of Contents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 MPC formulations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347294" y="858480"/>
            <a:ext cx="1859914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3843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Residual Learning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Recap on papers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MPC formulations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Tita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Lite3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Conclusions and contributions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296494" y="3016594"/>
            <a:ext cx="30035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2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14/48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5a96896eb346eb6b_0_174"/>
          <p:cNvSpPr/>
          <p:nvPr/>
        </p:nvSpPr>
        <p:spPr>
          <a:xfrm>
            <a:off x="446711" y="426"/>
            <a:ext cx="571200" cy="511500"/>
          </a:xfrm>
          <a:prstGeom prst="rect">
            <a:avLst/>
          </a:prstGeom>
          <a:solidFill>
            <a:srgbClr val="822433"/>
          </a:solidFill>
          <a:ln>
            <a:noFill/>
          </a:ln>
        </p:spPr>
        <p:txBody>
          <a:bodyPr anchorCtr="0" anchor="ctr" bIns="26425" lIns="52850" spcFirstLastPara="1" rIns="52850" wrap="square" tIns="26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rget studenti | Area didattica di Economia - Sede di Latina" id="250" name="Google Shape;250;h5a96896eb346eb6b_0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073" y="87420"/>
            <a:ext cx="473851" cy="33718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h5a96896eb346eb6b_0_174"/>
          <p:cNvSpPr txBox="1"/>
          <p:nvPr/>
        </p:nvSpPr>
        <p:spPr>
          <a:xfrm>
            <a:off x="1211013" y="179631"/>
            <a:ext cx="7329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425" lIns="52850" spcFirstLastPara="1" rIns="52850" wrap="square" tIns="26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MPC</a:t>
            </a:r>
            <a:br>
              <a:rPr b="0" i="0" lang="en-US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Sottotitolo</a:t>
            </a:r>
            <a:endParaRPr b="0" i="0" sz="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h5a96896eb346eb6b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716" y="610714"/>
            <a:ext cx="4182252" cy="19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h5a96896eb346eb6b_0_174"/>
          <p:cNvSpPr txBox="1"/>
          <p:nvPr/>
        </p:nvSpPr>
        <p:spPr>
          <a:xfrm>
            <a:off x="238728" y="2631106"/>
            <a:ext cx="22578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850" lIns="52850" spcFirstLastPara="1" rIns="52850" wrap="square" tIns="52850">
            <a:noAutofit/>
          </a:bodyPr>
          <a:lstStyle/>
          <a:p>
            <a:pPr indent="-19685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b="1" lang="en-US" sz="600">
                <a:solidFill>
                  <a:schemeClr val="dk1"/>
                </a:solidFill>
              </a:rPr>
              <a:t>Input:</a:t>
            </a:r>
            <a:r>
              <a:rPr lang="en-US" sz="600">
                <a:solidFill>
                  <a:schemeClr val="dk1"/>
                </a:solidFill>
              </a:rPr>
              <a:t> current configuration q, dq current velocity, contact phases ϕ,  command c=[h,vx,vy, w_z]</a:t>
            </a:r>
            <a:endParaRPr sz="600">
              <a:solidFill>
                <a:schemeClr val="dk1"/>
              </a:solidFill>
            </a:endParaRPr>
          </a:p>
          <a:p>
            <a:pPr indent="-17780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-"/>
            </a:pPr>
            <a:r>
              <a:rPr b="1" lang="en-US" sz="600">
                <a:solidFill>
                  <a:schemeClr val="dk1"/>
                </a:solidFill>
              </a:rPr>
              <a:t>Output:</a:t>
            </a:r>
            <a:r>
              <a:rPr lang="en-US" sz="600">
                <a:solidFill>
                  <a:schemeClr val="dk1"/>
                </a:solidFill>
              </a:rPr>
              <a:t> joint torques tau_mpc, desired positions q_mpc:, desired velocities q_mpc, predicted trajectory z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4" name="Google Shape;254;h5a96896eb346eb6b_0_174"/>
          <p:cNvSpPr txBox="1"/>
          <p:nvPr/>
        </p:nvSpPr>
        <p:spPr>
          <a:xfrm>
            <a:off x="2964968" y="2631089"/>
            <a:ext cx="25707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850" lIns="52850" spcFirstLastPara="1" rIns="52850" wrap="square" tIns="52850">
            <a:noAutofit/>
          </a:bodyPr>
          <a:lstStyle/>
          <a:p>
            <a:pPr indent="-19685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b="1" lang="en-US" sz="600">
                <a:solidFill>
                  <a:schemeClr val="dk1"/>
                </a:solidFill>
              </a:rPr>
              <a:t>Input: </a:t>
            </a:r>
            <a:r>
              <a:rPr lang="en-US" sz="600">
                <a:solidFill>
                  <a:schemeClr val="dk1"/>
                </a:solidFill>
              </a:rPr>
              <a:t>com position and velocity, position and velocity of the projected com </a:t>
            </a:r>
            <a:r>
              <a:rPr i="1" lang="en-US" sz="600">
                <a:solidFill>
                  <a:schemeClr val="dk1"/>
                </a:solidFill>
              </a:rPr>
              <a:t>c</a:t>
            </a:r>
            <a:r>
              <a:rPr lang="en-US" sz="600">
                <a:solidFill>
                  <a:schemeClr val="dk1"/>
                </a:solidFill>
              </a:rPr>
              <a:t> and its vertical velocity, orientation, linear and angular velocities </a:t>
            </a:r>
            <a:endParaRPr sz="600">
              <a:solidFill>
                <a:schemeClr val="dk1"/>
              </a:solidFill>
            </a:endParaRPr>
          </a:p>
          <a:p>
            <a:pPr indent="-196850" lvl="0" marL="266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b="1" lang="en-US" sz="600">
                <a:solidFill>
                  <a:schemeClr val="dk1"/>
                </a:solidFill>
              </a:rPr>
              <a:t>Output:</a:t>
            </a:r>
            <a:r>
              <a:rPr lang="en-US" sz="600">
                <a:solidFill>
                  <a:schemeClr val="dk1"/>
                </a:solidFill>
              </a:rPr>
              <a:t> linear, angular and vertical acceleration, ground reaction forces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59" name="Google Shape;259;p17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Tita WBC and trajectory generation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3 MPC formulations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283794" y="725047"/>
            <a:ext cx="5021580" cy="2075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6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The Whole-Body Controller is formulated as a quadratic program. Given generalized velocity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76200" rtl="0" algn="l">
              <a:lnSpc>
                <a:spcPct val="5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[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30000" lang="en-US" sz="10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⊤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ω</a:t>
            </a:r>
            <a:r>
              <a:rPr baseline="30000" lang="en-US" sz="10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⊤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5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˙</a:t>
            </a:r>
            <a:r>
              <a:rPr baseline="30000" lang="en-US" sz="10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⊤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]</a:t>
            </a:r>
            <a:r>
              <a:rPr baseline="30000" lang="en-US" sz="10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⊤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it includes: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396240" rtl="0" algn="l">
              <a:lnSpc>
                <a:spcPct val="50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b	b	</a:t>
            </a:r>
            <a:r>
              <a:rPr baseline="30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endParaRPr baseline="30000" sz="1050">
              <a:latin typeface="Cambria"/>
              <a:ea typeface="Cambria"/>
              <a:cs typeface="Cambria"/>
              <a:sym typeface="Cambria"/>
            </a:endParaRPr>
          </a:p>
          <a:p>
            <a:pPr indent="-131445" lvl="0" marL="352425" rtl="0" algn="l">
              <a:lnSpc>
                <a:spcPct val="120000"/>
              </a:lnSpc>
              <a:spcBef>
                <a:spcPts val="365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regularization of velocity, contact forces and torque rate;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3524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Cartesian-space and joint-space tracking;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3524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angular-momentum regularization;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3524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full-body dynamics constraints;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35242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wheel–ground contact constraints;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351790" marR="446405" rtl="0" algn="l">
              <a:lnSpc>
                <a:spcPct val="120000"/>
              </a:lnSpc>
              <a:spcBef>
                <a:spcPts val="35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contact-wrench constraints: unilateral contact, friction limits and no-tilting surface 	conditions.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75565" marR="4318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Trajectory generator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the trajectory is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generated online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at each call of the MPC using virtual unicycle model.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Given a desired velocity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it integrate a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default acceleration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to converge toward desired command and position.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65" name="Google Shape;265;p18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MPX implementation by IIT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3 MPC formulations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119800" y="1899500"/>
            <a:ext cx="5253900" cy="1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292100" lvl="0" marL="457200" marR="362585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Char char="●"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MPX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is a library written in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JAX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for GPU array computation. It provides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GPU parallelism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a fully differentiable solver, and integration into RL environments.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Char char="●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multiple-shooting SQP formulation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solves the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KKT system in parallel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maintaining exactness and fast convergence. MPX provides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primal-dual and FDDP solvers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28067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Char char="●"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JAX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is a Python library for accelerator-oriented array computation, designed for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large-scale machine learning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Char char="●"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Brax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is a framework implementing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RL algorithms in JAX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to train agents.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Char char="●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MPX also provides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MPC-SRBD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MPC-WB 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controllers with the </a:t>
            </a: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MuJoCo simulator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7" name="Google Shape;267;p18" title="h1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725" y="804275"/>
            <a:ext cx="1271776" cy="99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8" title="quad.gif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1350" y="869275"/>
            <a:ext cx="1213724" cy="9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73" name="Google Shape;273;p19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information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3 MPC formulations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466712" y="839144"/>
            <a:ext cx="4968875" cy="184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31445" lvl="0" marL="168910" marR="1053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TITA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MPC at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100 Hz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horizon 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N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∆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aseline="-25000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01 s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; FDDP solver. The 	inverse-dynamics/WBC layer runs at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100 Hz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169545" rtl="0" algn="l">
              <a:lnSpc>
                <a:spcPct val="114285"/>
              </a:lnSpc>
              <a:spcBef>
                <a:spcPts val="59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b="1" lang="en-US" sz="1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Lite3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MPC at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50 Hz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horizon 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N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∆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aseline="-25000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02 s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; primal–dual solver. WBC runs at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701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500 Hz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168910" marR="306070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Both robots train exclusively on flat terrain and are evaluated on flat, rough terrain with 	obstacles and Perlin-noise terrains.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168910" marR="6286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TITA noisy evaluations add zero-mean white noise to joint positions (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01 rad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 and velocities 	(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 rad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), together with randomized initial conditions.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131445" lvl="0" marL="168910" marR="30480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812433"/>
              </a:buClr>
              <a:buSzPts val="1000"/>
              <a:buFont typeface="Tahoma"/>
              <a:buChar char="•"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The noise affects the measurements provided to both the neural network and MPC, together 	with randomized initial conditions.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19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/>
          <p:nvPr/>
        </p:nvSpPr>
        <p:spPr>
          <a:xfrm>
            <a:off x="0" y="0"/>
            <a:ext cx="5760085" cy="3240405"/>
          </a:xfrm>
          <a:custGeom>
            <a:rect b="b" l="l" r="r" t="t"/>
            <a:pathLst>
              <a:path extrusionOk="0" h="3240405" w="576008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8124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579" y="3"/>
            <a:ext cx="518378" cy="6170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282" name="Google Shape;282;p20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Table of Contents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47294" y="857845"/>
            <a:ext cx="1859914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3843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Residual Learning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Recap on papers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MPC formulations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Tita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Lite3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Conclusions and contributions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4" name="Google Shape;284;p20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89" name="Google Shape;289;p21"/>
          <p:cNvSpPr txBox="1"/>
          <p:nvPr>
            <p:ph type="title"/>
          </p:nvPr>
        </p:nvSpPr>
        <p:spPr>
          <a:xfrm>
            <a:off x="1067295" y="252930"/>
            <a:ext cx="326707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Tita: residual training setup and evaluation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131800" y="2123600"/>
            <a:ext cx="6571800" cy="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7448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23850" rtl="0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99060" lvl="0" marL="1681480" marR="1598295" rtl="0" algn="l">
              <a:lnSpc>
                <a:spcPct val="1297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baseline="30000" i="1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τ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RL</a:t>
            </a:r>
            <a:r>
              <a:rPr i="1" lang="en-US" sz="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leg 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30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default 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leg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leg </a:t>
            </a:r>
            <a:r>
              <a:rPr baseline="30000" lang="en-US" sz="12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leg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i="1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τ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RL</a:t>
            </a:r>
            <a:r>
              <a:rPr i="1" lang="en-US" sz="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wheel 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wheel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wheel 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aseline="30000" i="1" lang="en-US" sz="12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˙</a:t>
            </a: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wheel</a:t>
            </a:r>
            <a:r>
              <a:rPr baseline="30000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i="1"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aseline="30000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17780" rtl="0" algn="l">
              <a:lnSpc>
                <a:spcPct val="105555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leg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 rad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;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wheel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 rad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 For </a:t>
            </a:r>
            <a:r>
              <a:rPr i="1"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w </a:t>
            </a:r>
            <a:r>
              <a:rPr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0925 m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this corresponds to 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31 m</a:t>
            </a:r>
            <a:r>
              <a:rPr i="1" lang="en-US" sz="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 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maximum wheel speed correction. </a:t>
            </a:r>
            <a:endParaRPr sz="800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5400" marR="17780" rtl="0" algn="l">
              <a:lnSpc>
                <a:spcPct val="105555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Low-level control: 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500 Hz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; MPC, WBC and policy: </a:t>
            </a:r>
            <a:r>
              <a:rPr lang="en-US" sz="8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100 Hz</a:t>
            </a:r>
            <a:r>
              <a:rPr lang="en-US" sz="8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341450" y="720375"/>
            <a:ext cx="50724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-US" sz="800">
                <a:solidFill>
                  <a:schemeClr val="dk1"/>
                </a:solidFill>
              </a:rPr>
              <a:t>Neural network architecture</a:t>
            </a:r>
            <a:r>
              <a:rPr lang="en-US" sz="800">
                <a:solidFill>
                  <a:schemeClr val="dk1"/>
                </a:solidFill>
              </a:rPr>
              <a:t>: it has (512, 256, 128) shape with ELU activation functions and tanh(x) at the output layer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-US" sz="800">
                <a:solidFill>
                  <a:schemeClr val="dk1"/>
                </a:solidFill>
              </a:rPr>
              <a:t>Neural network output: </a:t>
            </a:r>
            <a:r>
              <a:rPr lang="en-US" sz="800">
                <a:solidFill>
                  <a:schemeClr val="dk1"/>
                </a:solidFill>
              </a:rPr>
              <a:t>compute a joint setpoint from the default configuration and desired joint velocities for wheels. The output is in [-1,1].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-US" sz="800">
                <a:solidFill>
                  <a:schemeClr val="dk1"/>
                </a:solidFill>
              </a:rPr>
              <a:t>observation vector</a:t>
            </a:r>
            <a:r>
              <a:rPr lang="en-US" sz="800">
                <a:solidFill>
                  <a:schemeClr val="dk1"/>
                </a:solidFill>
              </a:rPr>
              <a:t>: linear and angular velocities, projected gravity, joint position from the default configuration, joint velocities, CoM_z error, unicycle command, previous neural network action, MPC output, normalized feedforward torques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-US" sz="800">
                <a:solidFill>
                  <a:schemeClr val="dk1"/>
                </a:solidFill>
              </a:rPr>
              <a:t>Given command during training</a:t>
            </a:r>
            <a:r>
              <a:rPr lang="en-US" sz="800">
                <a:solidFill>
                  <a:schemeClr val="dk1"/>
                </a:solidFill>
              </a:rPr>
              <a:t>: 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US" sz="800">
                <a:solidFill>
                  <a:schemeClr val="dk1"/>
                </a:solidFill>
              </a:rPr>
              <a:t>noise-free training: </a:t>
            </a:r>
            <a:endParaRPr sz="800">
              <a:solidFill>
                <a:schemeClr val="dk1"/>
              </a:solidFill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-US" sz="800">
                <a:solidFill>
                  <a:schemeClr val="dk1"/>
                </a:solidFill>
              </a:rPr>
              <a:t>with 70% probability, sampling in vx = [0, 2.5], wz =[0, 0.6]</a:t>
            </a:r>
            <a:endParaRPr sz="800">
              <a:solidFill>
                <a:schemeClr val="dk1"/>
              </a:solidFill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-US" sz="800">
                <a:solidFill>
                  <a:schemeClr val="dk1"/>
                </a:solidFill>
              </a:rPr>
              <a:t>with 30% sampling in  vx = [2.5, 3.0], wz =[0.6, 0.8]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-US" sz="800">
                <a:solidFill>
                  <a:schemeClr val="dk1"/>
                </a:solidFill>
              </a:rPr>
              <a:t>noisy training: </a:t>
            </a:r>
            <a:endParaRPr sz="800">
              <a:solidFill>
                <a:schemeClr val="dk1"/>
              </a:solidFill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-US" sz="800">
                <a:solidFill>
                  <a:schemeClr val="dk1"/>
                </a:solidFill>
              </a:rPr>
              <a:t>with 80% probability, sampling in vx = [0, 2.0], wz =[0, 0.6]</a:t>
            </a:r>
            <a:endParaRPr sz="800">
              <a:solidFill>
                <a:schemeClr val="dk1"/>
              </a:solidFill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</a:pPr>
            <a:r>
              <a:rPr lang="en-US" sz="800">
                <a:solidFill>
                  <a:schemeClr val="dk1"/>
                </a:solidFill>
              </a:rPr>
              <a:t>with 20% sampling in  vx = [2.0, 2.5], wz =[0.6, 0.8]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96" name="Google Shape;296;p22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Tita: PPO training parameters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473011" y="945713"/>
            <a:ext cx="2950845" cy="1553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0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Training steps: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30 million residual; 80 million end-to-end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Parallel environments: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1024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Episode length: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1000 control steps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Simulation timestep: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002 s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Control timestep: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01 s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Policy and value MLPs: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512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256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128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Policy distribution: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Tanh-normal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Learning rate: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3 </a:t>
            </a:r>
            <a:r>
              <a:rPr lang="en-US" sz="9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−4</a:t>
            </a:r>
            <a:endParaRPr baseline="30000" sz="900">
              <a:latin typeface="Cambria"/>
              <a:ea typeface="Cambria"/>
              <a:cs typeface="Cambria"/>
              <a:sym typeface="Cambri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Discount factor: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99</a:t>
            </a:r>
            <a:endParaRPr sz="900">
              <a:latin typeface="Cambria"/>
              <a:ea typeface="Cambria"/>
              <a:cs typeface="Cambria"/>
              <a:sym typeface="Cambri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Rollout length: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20 steps per environment between updates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651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Batch size: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256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8" name="Google Shape;298;p22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03" name="Google Shape;303;p23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Tita: residual reward setup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4" name="Google Shape;304;p23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22/48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028000" y="744702"/>
            <a:ext cx="3733500" cy="23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300" lIns="41300" spcFirstLastPara="1" rIns="41300" wrap="square" tIns="41300">
            <a:noAutofit/>
          </a:bodyPr>
          <a:lstStyle/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Lin vel.. tracking (10)</a:t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Ang vel. tracking (5)</a:t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orientation (-1)</a:t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height (-1)</a:t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1st order action rate (-0.001)</a:t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2st order action rate (-0.0001)</a:t>
            </a:r>
            <a:endParaRPr b="1"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dof pos limits (-1): </a:t>
            </a:r>
            <a:r>
              <a:rPr lang="en-US" sz="677">
                <a:solidFill>
                  <a:srgbClr val="000000"/>
                </a:solidFill>
              </a:rPr>
              <a:t>sum of the distances by which the leg joints exceed their soft lower or upper position limits; the cost is zero when all joints remain within the allowed range.</a:t>
            </a:r>
            <a:endParaRPr sz="677">
              <a:solidFill>
                <a:srgbClr val="000000"/>
              </a:solidFill>
            </a:endParaRPr>
          </a:p>
          <a:p>
            <a:pPr indent="0" lvl="0" marL="20647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  <a:p>
            <a:pPr indent="-146250" lvl="0" marL="20647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7"/>
              <a:buChar char="●"/>
            </a:pPr>
            <a:r>
              <a:rPr b="1" lang="en-US" sz="677">
                <a:solidFill>
                  <a:srgbClr val="000000"/>
                </a:solidFill>
              </a:rPr>
              <a:t>termination: (-100</a:t>
            </a:r>
            <a:r>
              <a:rPr lang="en-US" sz="677">
                <a:solidFill>
                  <a:srgbClr val="000000"/>
                </a:solidFill>
              </a:rPr>
              <a:t>): fall or base touch the ground</a:t>
            </a:r>
            <a:endParaRPr sz="67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77">
              <a:solidFill>
                <a:srgbClr val="000000"/>
              </a:solidFill>
            </a:endParaRPr>
          </a:p>
        </p:txBody>
      </p:sp>
      <p:pic>
        <p:nvPicPr>
          <p:cNvPr id="306" name="Google Shape;3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878" y="995901"/>
            <a:ext cx="1742325" cy="291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0825" y="1372040"/>
            <a:ext cx="1478370" cy="291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1411" y="1704409"/>
            <a:ext cx="1313595" cy="22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2730" y="1998307"/>
            <a:ext cx="1630240" cy="245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0794" y="2307434"/>
            <a:ext cx="2242906" cy="228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60794" y="622499"/>
            <a:ext cx="1856760" cy="3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16" name="Google Shape;316;p24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Tita: end-to-end reward setup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24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23/48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332650" y="774650"/>
            <a:ext cx="5203800" cy="22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Lin. vel. tracking (1):</a:t>
            </a:r>
            <a:r>
              <a:rPr lang="en-US" sz="1100">
                <a:solidFill>
                  <a:srgbClr val="000000"/>
                </a:solidFill>
              </a:rPr>
              <a:t> exp(−(vx_cmd − vx)² / 0.0625)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Ang. vel. tracking (0.5):</a:t>
            </a:r>
            <a:r>
              <a:rPr lang="en-US" sz="1100">
                <a:solidFill>
                  <a:srgbClr val="000000"/>
                </a:solidFill>
              </a:rPr>
              <a:t> exp(−(wz_cmd − wz)² / 0.0625)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Orientation (−1):</a:t>
            </a:r>
            <a:r>
              <a:rPr lang="en-US" sz="1100">
                <a:solidFill>
                  <a:srgbClr val="000000"/>
                </a:solidFill>
              </a:rPr>
              <a:t> sum(gravity_xy²)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Base height (−1):</a:t>
            </a:r>
            <a:r>
              <a:rPr lang="en-US" sz="1100">
                <a:solidFill>
                  <a:srgbClr val="000000"/>
                </a:solidFill>
              </a:rPr>
              <a:t> 1 − exp(−((h_com − h_cmd) / 0.05)²)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Posture (−1):</a:t>
            </a:r>
            <a:r>
              <a:rPr lang="en-US" sz="1100">
                <a:solidFill>
                  <a:srgbClr val="000000"/>
                </a:solidFill>
              </a:rPr>
              <a:t> exp(−sum(command²) / 0.25) × sum(weights × (q_leg − q_default)²)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Joint torques (−0.0001):</a:t>
            </a:r>
            <a:r>
              <a:rPr lang="en-US" sz="1100">
                <a:solidFill>
                  <a:srgbClr val="000000"/>
                </a:solidFill>
              </a:rPr>
              <a:t> sum(tau²)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1st-order action rate (−0.01):</a:t>
            </a:r>
            <a:r>
              <a:rPr lang="en-US" sz="1100">
                <a:solidFill>
                  <a:srgbClr val="000000"/>
                </a:solidFill>
              </a:rPr>
              <a:t> sum((a_t − a_t−1)²)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Dof position limits (−1):</a:t>
            </a:r>
            <a:r>
              <a:rPr lang="en-US" sz="1100">
                <a:solidFill>
                  <a:srgbClr val="000000"/>
                </a:solidFill>
              </a:rPr>
              <a:t> sum(max(q_lower − q_leg, 0) + max(q_leg − q_upper, 0))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</a:rPr>
              <a:t>Termination (−100):</a:t>
            </a:r>
            <a:r>
              <a:rPr lang="en-US" sz="1100">
                <a:solidFill>
                  <a:srgbClr val="000000"/>
                </a:solidFill>
              </a:rPr>
              <a:t> 1 if the robot overturns or a termination body touches the ground; 0 otherwise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/>
          <p:nvPr/>
        </p:nvSpPr>
        <p:spPr>
          <a:xfrm>
            <a:off x="1067295" y="252930"/>
            <a:ext cx="161480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terrains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4" name="Google Shape;32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743" y="680428"/>
            <a:ext cx="3506861" cy="231665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6"/>
          <p:cNvSpPr txBox="1"/>
          <p:nvPr/>
        </p:nvSpPr>
        <p:spPr>
          <a:xfrm>
            <a:off x="1067295" y="252930"/>
            <a:ext cx="183578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flat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1067302" y="460425"/>
            <a:ext cx="945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2271433" y="537011"/>
            <a:ext cx="12172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3" name="Google Shape;333;p26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25/48</a:t>
            </a:r>
            <a:endParaRPr/>
          </a:p>
        </p:txBody>
      </p:sp>
      <p:pic>
        <p:nvPicPr>
          <p:cNvPr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4319" y="793036"/>
            <a:ext cx="3087001" cy="242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/>
        </p:nvSpPr>
        <p:spPr>
          <a:xfrm>
            <a:off x="1067295" y="252930"/>
            <a:ext cx="183578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flat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 txBox="1"/>
          <p:nvPr/>
        </p:nvSpPr>
        <p:spPr>
          <a:xfrm>
            <a:off x="1067303" y="460425"/>
            <a:ext cx="963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1" name="Google Shape;341;p27"/>
          <p:cNvSpPr txBox="1"/>
          <p:nvPr/>
        </p:nvSpPr>
        <p:spPr>
          <a:xfrm>
            <a:off x="2058339" y="537011"/>
            <a:ext cx="164338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6 rad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2" name="Google Shape;342;p27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26/48</a:t>
            </a:r>
            <a:endParaRPr/>
          </a:p>
        </p:txBody>
      </p:sp>
      <p:pic>
        <p:nvPicPr>
          <p:cNvPr id="343" name="Google Shape;3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995" y="792475"/>
            <a:ext cx="3046058" cy="2410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/>
          <p:nvPr/>
        </p:nvSpPr>
        <p:spPr>
          <a:xfrm>
            <a:off x="1067295" y="252930"/>
            <a:ext cx="202628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rough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 txBox="1"/>
          <p:nvPr/>
        </p:nvSpPr>
        <p:spPr>
          <a:xfrm>
            <a:off x="1067302" y="460425"/>
            <a:ext cx="9327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1999869" y="537011"/>
            <a:ext cx="17602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) = (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i="1" lang="en-US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−→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10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51" name="Google Shape;351;p28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27/48</a:t>
            </a:r>
            <a:endParaRPr/>
          </a:p>
        </p:txBody>
      </p:sp>
      <p:pic>
        <p:nvPicPr>
          <p:cNvPr id="352" name="Google Shape;3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889" y="756514"/>
            <a:ext cx="3043898" cy="244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9"/>
          <p:cNvSpPr txBox="1"/>
          <p:nvPr/>
        </p:nvSpPr>
        <p:spPr>
          <a:xfrm>
            <a:off x="1067295" y="252930"/>
            <a:ext cx="202628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rough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1067302" y="460425"/>
            <a:ext cx="909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2271433" y="537011"/>
            <a:ext cx="121729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 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0" name="Google Shape;360;p29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28/48</a:t>
            </a:r>
            <a:endParaRPr/>
          </a:p>
        </p:txBody>
      </p:sp>
      <p:pic>
        <p:nvPicPr>
          <p:cNvPr id="361" name="Google Shape;3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6845" y="760510"/>
            <a:ext cx="3086122" cy="2442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 txBox="1"/>
          <p:nvPr/>
        </p:nvSpPr>
        <p:spPr>
          <a:xfrm>
            <a:off x="1067295" y="252930"/>
            <a:ext cx="183578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flat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1067301" y="460425"/>
            <a:ext cx="825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2328447" y="537000"/>
            <a:ext cx="1732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Noisy measurements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9" name="Google Shape;369;p30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29/48</a:t>
            </a:r>
            <a:endParaRPr/>
          </a:p>
        </p:txBody>
      </p:sp>
      <p:pic>
        <p:nvPicPr>
          <p:cNvPr id="370" name="Google Shape;3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861" y="776631"/>
            <a:ext cx="3040259" cy="2399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"/>
          <p:cNvSpPr txBox="1"/>
          <p:nvPr/>
        </p:nvSpPr>
        <p:spPr>
          <a:xfrm>
            <a:off x="1067295" y="252930"/>
            <a:ext cx="183578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flat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1067302" y="460425"/>
            <a:ext cx="891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2328447" y="537000"/>
            <a:ext cx="173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Noisy measurements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31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30/48</a:t>
            </a:r>
            <a:endParaRPr/>
          </a:p>
        </p:txBody>
      </p:sp>
      <p:pic>
        <p:nvPicPr>
          <p:cNvPr id="379" name="Google Shape;37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0839" y="776631"/>
            <a:ext cx="3040260" cy="2399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2"/>
          <p:cNvSpPr txBox="1"/>
          <p:nvPr/>
        </p:nvSpPr>
        <p:spPr>
          <a:xfrm>
            <a:off x="1067295" y="252930"/>
            <a:ext cx="202628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rough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1067301" y="460425"/>
            <a:ext cx="7899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2328447" y="537000"/>
            <a:ext cx="1739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Noisy measurements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7" name="Google Shape;387;p32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31/48</a:t>
            </a:r>
            <a:endParaRPr/>
          </a:p>
        </p:txBody>
      </p:sp>
      <p:pic>
        <p:nvPicPr>
          <p:cNvPr id="388" name="Google Shape;3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0839" y="776631"/>
            <a:ext cx="3040260" cy="2399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3"/>
          <p:cNvSpPr txBox="1"/>
          <p:nvPr/>
        </p:nvSpPr>
        <p:spPr>
          <a:xfrm>
            <a:off x="1067295" y="252930"/>
            <a:ext cx="2025014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perlin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 txBox="1"/>
          <p:nvPr/>
        </p:nvSpPr>
        <p:spPr>
          <a:xfrm>
            <a:off x="1067302" y="460425"/>
            <a:ext cx="903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5" name="Google Shape;395;p33"/>
          <p:cNvSpPr txBox="1"/>
          <p:nvPr/>
        </p:nvSpPr>
        <p:spPr>
          <a:xfrm>
            <a:off x="2328445" y="537000"/>
            <a:ext cx="1944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Noisy measurements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6" name="Google Shape;396;p33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32/48</a:t>
            </a:r>
            <a:endParaRPr/>
          </a:p>
        </p:txBody>
      </p:sp>
      <p:pic>
        <p:nvPicPr>
          <p:cNvPr id="397" name="Google Shape;39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0839" y="776631"/>
            <a:ext cx="3040260" cy="2399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"/>
          <p:cNvSpPr txBox="1"/>
          <p:nvPr/>
        </p:nvSpPr>
        <p:spPr>
          <a:xfrm>
            <a:off x="1067295" y="252930"/>
            <a:ext cx="190753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conclusions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 txBox="1"/>
          <p:nvPr/>
        </p:nvSpPr>
        <p:spPr>
          <a:xfrm>
            <a:off x="1067302" y="460425"/>
            <a:ext cx="885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1866773" y="537011"/>
            <a:ext cx="20269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Noise-free evaluation: completed tasks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5" name="Google Shape;40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341" y="757441"/>
            <a:ext cx="2315812" cy="2344302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4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33/48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"/>
          <p:cNvSpPr txBox="1"/>
          <p:nvPr/>
        </p:nvSpPr>
        <p:spPr>
          <a:xfrm>
            <a:off x="1067295" y="252930"/>
            <a:ext cx="1907539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Tita results – conclusions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1067302" y="460425"/>
            <a:ext cx="8736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1869744" y="537011"/>
            <a:ext cx="202057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Additional evaluation: completed tasks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4" name="Google Shape;414;p35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34/48</a:t>
            </a:r>
            <a:endParaRPr/>
          </a:p>
        </p:txBody>
      </p:sp>
      <p:pic>
        <p:nvPicPr>
          <p:cNvPr id="415" name="Google Shape;4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853" y="883045"/>
            <a:ext cx="2528350" cy="2228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20" name="Google Shape;420;p36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Tita results – conclusions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4 Tita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486117" y="1115554"/>
            <a:ext cx="4908550" cy="1128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138430" lvl="0" marL="150495" marR="51435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1100"/>
              <a:buFont typeface="Tahoma"/>
              <a:buChar char="•"/>
            </a:pPr>
            <a:r>
              <a:rPr lang="en-US" sz="11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In both noise-free and noisy conditions, the neural network increases the maximum achievable velocity and improves locomotion robustness across different terrains.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0495" marR="508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812433"/>
              </a:buClr>
              <a:buSzPts val="1100"/>
              <a:buFont typeface="Tahoma"/>
              <a:buChar char="•"/>
            </a:pPr>
            <a:r>
              <a:rPr lang="en-US" sz="11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However, the neural network can introduces sometimes disturbances into the nominal locomotion, resulting in less natural motion, for example, a wider leg stance and orientation oscillations.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9065" lvl="0" marL="15176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812433"/>
              </a:buClr>
              <a:buSzPts val="1100"/>
              <a:buFont typeface="Tahoma"/>
              <a:buChar char="•"/>
            </a:pPr>
            <a:r>
              <a:rPr lang="en-US" sz="11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Those problem can be fixed with some action-filter or with better reward shaping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2" name="Google Shape;422;p36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35/48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/>
          <p:nvPr/>
        </p:nvSpPr>
        <p:spPr>
          <a:xfrm>
            <a:off x="0" y="0"/>
            <a:ext cx="5760085" cy="3240405"/>
          </a:xfrm>
          <a:custGeom>
            <a:rect b="b" l="l" r="r" t="t"/>
            <a:pathLst>
              <a:path extrusionOk="0" h="3240405" w="576008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8124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579" y="3"/>
            <a:ext cx="518378" cy="6170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429" name="Google Shape;429;p37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Table of Contents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0" name="Google Shape;430;p37"/>
          <p:cNvSpPr txBox="1"/>
          <p:nvPr/>
        </p:nvSpPr>
        <p:spPr>
          <a:xfrm>
            <a:off x="347294" y="858480"/>
            <a:ext cx="1859914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3843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Residual Learning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Recap on papers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MPC formulations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Tita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Lite3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Conclusions and contributions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1" name="Google Shape;431;p37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36/48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36" name="Google Shape;436;p39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Lite3: residual training setup and evaluation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7" name="Google Shape;437;p39"/>
          <p:cNvSpPr txBox="1"/>
          <p:nvPr/>
        </p:nvSpPr>
        <p:spPr>
          <a:xfrm>
            <a:off x="447611" y="770935"/>
            <a:ext cx="4863465" cy="198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MLP (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256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256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256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 with ELU activations and bounded actions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US" sz="9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9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baseline="30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905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joint setpoints relative to the default configuration.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89230" marR="558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linear/angular velocity, projected gravity, joint-position offsets, joint velocity, unicycle command and previous action.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27000" marR="1118235" rtl="0" algn="r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>
                <a:srgbClr val="812433"/>
              </a:buClr>
              <a:buSzPts val="1350"/>
              <a:buFont typeface="Tahoma"/>
              <a:buChar char="•"/>
            </a:pPr>
            <a:r>
              <a:rPr b="1" baseline="30000" lang="en-US" sz="135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Training commands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aseline="30000" i="1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baseline="30000" lang="en-US" sz="13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], </a:t>
            </a:r>
            <a:r>
              <a:rPr baseline="30000" i="1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y </a:t>
            </a:r>
            <a:r>
              <a:rPr baseline="30000" lang="en-US" sz="13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 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ω</a:t>
            </a:r>
            <a:r>
              <a:rPr i="1"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baseline="30000" lang="en-US" sz="135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rad</a:t>
            </a:r>
            <a:r>
              <a:rPr baseline="30000" i="1" lang="en-US" sz="13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aseline="30000" lang="en-US" sz="13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aseline="30000" sz="135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70940" rtl="0" algn="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τ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τ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MPC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-25000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default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sa </a:t>
            </a:r>
            <a:r>
              <a:rPr lang="en-US" sz="9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9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aseline="30000" lang="en-US" sz="135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˙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i="1"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i="1" lang="en-US"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126364" lvl="0" marL="189230" marR="88265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SRBD MPC inputs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base pose and velocity, velocity/height commands, foot positions and measured contacts.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predicted base trajectory and optimal ground-reaction forces.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89230" marR="33274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: height tracking, roll/pitch stabilization, velocity tracking, contact-force optimization and friction-cone enforcement.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898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WBC map ground-reaction-force into joints.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8" name="Google Shape;438;p39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38/48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43" name="Google Shape;443;p40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Lite3: residual reward setup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p40"/>
          <p:cNvSpPr txBox="1"/>
          <p:nvPr/>
        </p:nvSpPr>
        <p:spPr>
          <a:xfrm>
            <a:off x="2302459" y="711903"/>
            <a:ext cx="6794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5" name="Google Shape;445;p40"/>
          <p:cNvSpPr txBox="1"/>
          <p:nvPr/>
        </p:nvSpPr>
        <p:spPr>
          <a:xfrm>
            <a:off x="243500" y="828750"/>
            <a:ext cx="54021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Lin. vel. tracking (1):</a:t>
            </a:r>
            <a:r>
              <a:rPr lang="en-US" sz="800">
                <a:solidFill>
                  <a:srgbClr val="000000"/>
                </a:solidFill>
              </a:rPr>
              <a:t> exp(−sum((v_cmd_xy − v_xy)²) / 0.25)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Ang. vel. tracking (0.5):</a:t>
            </a:r>
            <a:r>
              <a:rPr lang="en-US" sz="800">
                <a:solidFill>
                  <a:srgbClr val="000000"/>
                </a:solidFill>
              </a:rPr>
              <a:t> exp(−(wz_cmd − wz)² / 0.25)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Orientation (−5):</a:t>
            </a:r>
            <a:r>
              <a:rPr lang="en-US" sz="800">
                <a:solidFill>
                  <a:srgbClr val="000000"/>
                </a:solidFill>
              </a:rPr>
              <a:t> sum(torso_z_axis_xy²)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Vertical linear velocity (−0.5):</a:t>
            </a:r>
            <a:r>
              <a:rPr lang="en-US" sz="800">
                <a:solidFill>
                  <a:srgbClr val="000000"/>
                </a:solidFill>
              </a:rPr>
              <a:t> vz²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Roll/pitch angular velocity (−0.05):</a:t>
            </a:r>
            <a:r>
              <a:rPr lang="en-US" sz="800">
                <a:solidFill>
                  <a:srgbClr val="000000"/>
                </a:solidFill>
              </a:rPr>
              <a:t> wx² + wy²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Default pose tracking (0.5):</a:t>
            </a:r>
            <a:r>
              <a:rPr lang="en-US" sz="800">
                <a:solidFill>
                  <a:srgbClr val="000000"/>
                </a:solidFill>
              </a:rPr>
              <a:t> exp(−sum(weights × (q − q_default)²))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DOF position limits (−1):</a:t>
            </a:r>
            <a:r>
              <a:rPr lang="en-US" sz="800">
                <a:solidFill>
                  <a:srgbClr val="000000"/>
                </a:solidFill>
              </a:rPr>
              <a:t> sum(max(q_lower − q, 0) + max(q − q_upper, 0))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Termination (−10):</a:t>
            </a:r>
            <a:r>
              <a:rPr lang="en-US" sz="800">
                <a:solidFill>
                  <a:srgbClr val="000000"/>
                </a:solidFill>
              </a:rPr>
              <a:t> 1 if the robot falls or the state contains NaN values; 0 otherwise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Residual torque (−0.02):</a:t>
            </a:r>
            <a:r>
              <a:rPr lang="en-US" sz="800">
                <a:solidFill>
                  <a:srgbClr val="000000"/>
                </a:solidFill>
              </a:rPr>
              <a:t> mean(tau_residual²)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Joint saturation (−0.5):</a:t>
            </a:r>
            <a:r>
              <a:rPr lang="en-US" sz="800">
                <a:solidFill>
                  <a:srgbClr val="000000"/>
                </a:solidFill>
              </a:rPr>
              <a:t> mean(saturated_joints)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1st-order action rate (−0.01):</a:t>
            </a:r>
            <a:r>
              <a:rPr lang="en-US" sz="800">
                <a:solidFill>
                  <a:srgbClr val="000000"/>
                </a:solidFill>
              </a:rPr>
              <a:t> sum((a_t − a_t−1)²)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2nd-order action rate (−0.001):</a:t>
            </a:r>
            <a:r>
              <a:rPr lang="en-US" sz="800">
                <a:solidFill>
                  <a:srgbClr val="000000"/>
                </a:solidFill>
              </a:rPr>
              <a:t> sum((a_t − 2a_t−1 + a_t−2)²)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Joint torques (−0.0002):</a:t>
            </a:r>
            <a:r>
              <a:rPr lang="en-US" sz="800">
                <a:solidFill>
                  <a:srgbClr val="000000"/>
                </a:solidFill>
              </a:rPr>
              <a:t> sqrt(sum(tau²)) + sum(|tau|)</a:t>
            </a:r>
            <a:endParaRPr sz="800">
              <a:solidFill>
                <a:srgbClr val="000000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</a:pPr>
            <a:r>
              <a:rPr b="1" lang="en-US" sz="800">
                <a:solidFill>
                  <a:srgbClr val="000000"/>
                </a:solidFill>
              </a:rPr>
              <a:t>Energy consumption (−0.001):</a:t>
            </a:r>
            <a:r>
              <a:rPr lang="en-US" sz="800">
                <a:solidFill>
                  <a:srgbClr val="000000"/>
                </a:solidFill>
              </a:rPr>
              <a:t> sum(|dq| × |tau|)</a:t>
            </a:r>
            <a:endParaRPr sz="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/>
        </p:nvSpPr>
        <p:spPr>
          <a:xfrm>
            <a:off x="1067295" y="252930"/>
            <a:ext cx="169291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Lite3 results – terrains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51" name="Google Shape;45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214" y="674486"/>
            <a:ext cx="3589596" cy="240141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1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40/48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"/>
          <p:cNvSpPr txBox="1"/>
          <p:nvPr/>
        </p:nvSpPr>
        <p:spPr>
          <a:xfrm>
            <a:off x="1067295" y="252930"/>
            <a:ext cx="1913889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Lite3 results – flat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8" name="Google Shape;458;p42"/>
          <p:cNvSpPr txBox="1"/>
          <p:nvPr/>
        </p:nvSpPr>
        <p:spPr>
          <a:xfrm>
            <a:off x="1716850" y="622500"/>
            <a:ext cx="27117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y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rad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9" name="Google Shape;459;p42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41/48</a:t>
            </a:r>
            <a:endParaRPr/>
          </a:p>
        </p:txBody>
      </p:sp>
      <p:pic>
        <p:nvPicPr>
          <p:cNvPr id="460" name="Google Shape;46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414" y="872808"/>
            <a:ext cx="3071970" cy="241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 txBox="1"/>
          <p:nvPr/>
        </p:nvSpPr>
        <p:spPr>
          <a:xfrm>
            <a:off x="1067295" y="252930"/>
            <a:ext cx="1913889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Lite3 results – flat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6" name="Google Shape;466;p43"/>
          <p:cNvSpPr txBox="1"/>
          <p:nvPr/>
        </p:nvSpPr>
        <p:spPr>
          <a:xfrm>
            <a:off x="1829307" y="537824"/>
            <a:ext cx="261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y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6 rad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67" name="Google Shape;467;p43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42/48</a:t>
            </a:r>
            <a:endParaRPr/>
          </a:p>
        </p:txBody>
      </p:sp>
      <p:pic>
        <p:nvPicPr>
          <p:cNvPr id="468" name="Google Shape;46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864" y="788133"/>
            <a:ext cx="3019835" cy="241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 txBox="1"/>
          <p:nvPr/>
        </p:nvSpPr>
        <p:spPr>
          <a:xfrm>
            <a:off x="1067295" y="252930"/>
            <a:ext cx="1913889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Lite3 results – flat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4" name="Google Shape;474;p44"/>
          <p:cNvSpPr txBox="1"/>
          <p:nvPr/>
        </p:nvSpPr>
        <p:spPr>
          <a:xfrm>
            <a:off x="1835932" y="531199"/>
            <a:ext cx="261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y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4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rad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5" name="Google Shape;475;p44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43/48</a:t>
            </a:r>
            <a:endParaRPr/>
          </a:p>
        </p:txBody>
      </p:sp>
      <p:pic>
        <p:nvPicPr>
          <p:cNvPr id="476" name="Google Shape;4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489" y="781508"/>
            <a:ext cx="3019835" cy="241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/>
        </p:nvSpPr>
        <p:spPr>
          <a:xfrm>
            <a:off x="1067304" y="460425"/>
            <a:ext cx="12312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2" name="Google Shape;482;p45"/>
          <p:cNvSpPr txBox="1"/>
          <p:nvPr/>
        </p:nvSpPr>
        <p:spPr>
          <a:xfrm>
            <a:off x="1011051" y="191925"/>
            <a:ext cx="3743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Lite3 results – rough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275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: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5 </a:t>
            </a:r>
            <a:r>
              <a:rPr i="1" lang="en-US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y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rad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3" name="Google Shape;483;p45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44/48</a:t>
            </a:r>
            <a:endParaRPr/>
          </a:p>
        </p:txBody>
      </p:sp>
      <p:pic>
        <p:nvPicPr>
          <p:cNvPr id="484" name="Google Shape;4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889" y="788133"/>
            <a:ext cx="3071970" cy="241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/>
          <p:nvPr/>
        </p:nvSpPr>
        <p:spPr>
          <a:xfrm>
            <a:off x="1067295" y="252930"/>
            <a:ext cx="210312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812433"/>
                </a:solidFill>
                <a:latin typeface="Calibri"/>
                <a:ea typeface="Calibri"/>
                <a:cs typeface="Calibri"/>
                <a:sym typeface="Calibri"/>
              </a:rPr>
              <a:t>Lite3 results – perlin terrain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5 Lite3 results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0" name="Google Shape;490;p46"/>
          <p:cNvSpPr txBox="1"/>
          <p:nvPr/>
        </p:nvSpPr>
        <p:spPr>
          <a:xfrm>
            <a:off x="1690407" y="570899"/>
            <a:ext cx="261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x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</a:t>
            </a:r>
            <a:r>
              <a:rPr i="1"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y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 m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,	ω</a:t>
            </a:r>
            <a:r>
              <a:rPr baseline="-25000" i="1" lang="en-US" sz="105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z </a:t>
            </a:r>
            <a:r>
              <a:rPr lang="en-US" sz="1000">
                <a:solidFill>
                  <a:srgbClr val="3F3F3F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6 rad</a:t>
            </a:r>
            <a:r>
              <a:rPr i="1" lang="en-US" sz="10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en-US" sz="10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1" name="Google Shape;491;p46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45/48</a:t>
            </a:r>
            <a:endParaRPr/>
          </a:p>
        </p:txBody>
      </p:sp>
      <p:pic>
        <p:nvPicPr>
          <p:cNvPr id="492" name="Google Shape;49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889" y="788133"/>
            <a:ext cx="3047908" cy="241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7"/>
          <p:cNvSpPr/>
          <p:nvPr/>
        </p:nvSpPr>
        <p:spPr>
          <a:xfrm>
            <a:off x="0" y="0"/>
            <a:ext cx="5760085" cy="3240405"/>
          </a:xfrm>
          <a:custGeom>
            <a:rect b="b" l="l" r="r" t="t"/>
            <a:pathLst>
              <a:path extrusionOk="0" h="3240405" w="576008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8124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8" name="Google Shape;49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579" y="3"/>
            <a:ext cx="518378" cy="617051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499" name="Google Shape;499;p47"/>
          <p:cNvSpPr txBox="1"/>
          <p:nvPr>
            <p:ph type="title"/>
          </p:nvPr>
        </p:nvSpPr>
        <p:spPr>
          <a:xfrm>
            <a:off x="1067295" y="252930"/>
            <a:ext cx="402717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170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Table of Contents</a:t>
            </a:r>
            <a:endParaRPr/>
          </a:p>
          <a:p>
            <a:pPr indent="0" lvl="0" marL="12700" rtl="0" algn="l">
              <a:lnSpc>
                <a:spcPct val="1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6 Conclusions and contributions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0" name="Google Shape;500;p47"/>
          <p:cNvSpPr txBox="1"/>
          <p:nvPr/>
        </p:nvSpPr>
        <p:spPr>
          <a:xfrm>
            <a:off x="347294" y="849971"/>
            <a:ext cx="1859914" cy="1742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38430" lvl="0" marL="151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Residual Learning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Recap on papers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MPC formulations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Tita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9A4F5B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9A4F5B"/>
                </a:solidFill>
                <a:latin typeface="Tahoma"/>
                <a:ea typeface="Tahoma"/>
                <a:cs typeface="Tahoma"/>
                <a:sym typeface="Tahoma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Lite3 results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38430" lvl="0" marL="15113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ucida Sans"/>
              <a:buChar char="►"/>
            </a:pPr>
            <a:r>
              <a:rPr lang="en-US" sz="1100" u="sng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Conclusions and contributions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1" name="Google Shape;501;p47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46/48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06" name="Google Shape;506;p49"/>
          <p:cNvSpPr txBox="1"/>
          <p:nvPr>
            <p:ph type="title"/>
          </p:nvPr>
        </p:nvSpPr>
        <p:spPr>
          <a:xfrm>
            <a:off x="1067295" y="252930"/>
            <a:ext cx="230314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Conclusions and contributions</a:t>
            </a:r>
            <a:endParaRPr/>
          </a:p>
        </p:txBody>
      </p:sp>
      <p:sp>
        <p:nvSpPr>
          <p:cNvPr id="507" name="Google Shape;507;p49"/>
          <p:cNvSpPr txBox="1"/>
          <p:nvPr>
            <p:ph idx="12" type="sldNum"/>
          </p:nvPr>
        </p:nvSpPr>
        <p:spPr>
          <a:xfrm>
            <a:off x="296494" y="3016594"/>
            <a:ext cx="323215" cy="15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48/48</a:t>
            </a:r>
            <a:endParaRPr/>
          </a:p>
        </p:txBody>
      </p:sp>
      <p:sp>
        <p:nvSpPr>
          <p:cNvPr id="508" name="Google Shape;508;p49"/>
          <p:cNvSpPr txBox="1"/>
          <p:nvPr/>
        </p:nvSpPr>
        <p:spPr>
          <a:xfrm>
            <a:off x="498411" y="397183"/>
            <a:ext cx="4914900" cy="269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550">
            <a:spAutoFit/>
          </a:bodyPr>
          <a:lstStyle/>
          <a:p>
            <a:pPr indent="0" lvl="0" marL="581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12433"/>
                </a:solidFill>
                <a:latin typeface="Tahoma"/>
                <a:ea typeface="Tahoma"/>
                <a:cs typeface="Tahoma"/>
                <a:sym typeface="Tahoma"/>
              </a:rPr>
              <a:t>6 Conclusions and contributions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38430" marR="381635" rtl="0" algn="l">
              <a:lnSpc>
                <a:spcPct val="101499"/>
              </a:lnSpc>
              <a:spcBef>
                <a:spcPts val="47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This work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extends the MPX library with a simulation environment for wheeled-legged robots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focusing on the bipedal TITA platform.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38430" marR="85725" rtl="0" algn="l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constraint-aware Whole-Body Controller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is formulated as a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Quadratic Program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replacing algebraic inverse dynamics.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38430" marR="167005" rtl="0" algn="l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The QP explicitly accounts for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full-body dynamics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wheel–ground contact constraints, friction limits, contact-wrench feasibility, and actuator limits.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38430" marR="12065" rtl="0" algn="l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Residual learning is integrated with an MPC–WBC pipeline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allowing the neural network to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correct the joint commands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generated by the nominal controller.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38430" marR="91440" rtl="0" algn="l">
              <a:lnSpc>
                <a:spcPct val="101499"/>
              </a:lnSpc>
              <a:spcBef>
                <a:spcPts val="19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This work investigates a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less explored residual-learning architecture combining MPC with a separate QP-based WBC layer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 Existing approaches generally include dynamics directly in MPC or rely on algebraic inverse dynamics.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38430" marR="5080" rtl="0" algn="l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The approach is evaluated on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two robotic platforms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a quadruped and a bipedal wheeled-legged robot, across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unseen terrains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, with additional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noisy tests for TITA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6364" lvl="0" marL="138430" marR="342265" rtl="0" algn="l">
              <a:lnSpc>
                <a:spcPct val="101499"/>
              </a:lnSpc>
              <a:spcBef>
                <a:spcPts val="200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The residual policy can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tracking errors, increase the maximum sustainable velocity, and improve robustness 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on rough and Perlin-noise-generated terrains.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-127000" lvl="0" marL="139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812433"/>
              </a:buClr>
              <a:buSzPts val="900"/>
              <a:buFont typeface="Tahoma"/>
              <a:buChar char="•"/>
            </a:pP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Future work: </a:t>
            </a:r>
            <a:r>
              <a:rPr b="1" lang="en-US" sz="9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improved reward design, action filtering, and real-robot validation</a:t>
            </a:r>
            <a:r>
              <a:rPr lang="en-US" sz="90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VTI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2026-10-05T13:19:12Z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2026-10-05T00:00:00Z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